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54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VESTITUS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Arriendo y Venta de Vestuario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4572000" cy="36576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N°2 — Estado de Avance 2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Claudio Antonio Quintana Valderrama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3: Gabriel Hermosilla | Deyanira Leyton | Priscila Calderón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CONTENIDOS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PARTE I — EP1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75488" y="1773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Contexto del Proyecto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Descripción del Problema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75488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Objetivos del Proyecto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75488" y="28437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Situación Inicial / Alcance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75488" y="3200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Planificación (Scrum / Sprints)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75488" y="3557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Distribución de Responsabilidades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75488" y="39136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Stack Tecnológico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75488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9–12. Reqs, Rutas, API, 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26864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75488" y="4626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Arquitectura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4114800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84632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PARTE II — EP2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956048" y="1417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IL2.1 — Diseño y Diagramas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773936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956048" y="1773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IL2.2 — Ambiente de Pruebas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13055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95604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IL2.3 — Backup y Servidor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487168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956048" y="2487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IL2.3 — Desarrollo de la Solución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843784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956048" y="28437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Estado de Avance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00400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956048" y="3200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Pruebas Ejecutadas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956048" y="3557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Conclusiones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913632"/>
            <a:ext cx="4114800" cy="329184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4956048" y="39136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Lecciones Aprendidas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70248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4956048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Referencias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EVALUACIÓN PARCIAL N°1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integral para PYME chilena de arriendo y venta de vestuario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— ¿Qué es Vestitus?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73152" cy="18288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El Negocio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chilena dedicada al arriendo y venta de vestuario para personas, empresas y agrupaciones culturales.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73152" cy="18288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37760" y="978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Problema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356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manuales: WhatsApp, llamadas, planillas Excel. Sin trazabilidad ni control de stock en tiempo real.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73152" cy="18288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Solución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cloud que digitaliza catálogo, arriendos, ventas, devoluciones, despachos y gestión de clientes.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73152" cy="18288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Este Informe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47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EP2: incluye diseño de solución, ambiente de pruebas, backup/servidor y desarrollo funcional completo.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Procesos de Negocio Impactados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productos e inventario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11880" y="8412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vestuario, imágenes (Cloudinary), precios, estado de conservación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822960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74320" y="1330452"/>
            <a:ext cx="859536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" y="13487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arriendo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3487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 fechas, agendamiento de citas para prueba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30452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74320" y="1837944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5760" y="18562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devolución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8562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estado, daños y cálculo de costos adicionales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1837944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" y="2345436"/>
            <a:ext cx="859536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23637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venta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36372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Comercialización con pago por transferencia bancaria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2345436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274320" y="2852928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65760" y="28712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28712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persona natural, empresa, agrupación cultural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852928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274320" y="3360420"/>
            <a:ext cx="859536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65760" y="33787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despacho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33787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envío y cálculo de costos con servicios externos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3360420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74320" y="3867912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del catálogo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38862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filtrado por categorías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867912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274320" y="4375404"/>
            <a:ext cx="859536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65760" y="43936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corporativa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43936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datos institucionales sin intervención técnica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4375404"/>
            <a:ext cx="36576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274320" y="713232"/>
            <a:ext cx="3255264" cy="914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3566160" y="713232"/>
            <a:ext cx="5303520" cy="914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Descripción del Problema y Oportunidad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Causas del Problema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Método: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2984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Procesos manuales; falta de control en devoluciones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Mano de obra: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Bajo nivel tecnológico del personal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Tecnología: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139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Sin sistema digital integrado ni plataforma web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Datos: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560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Información dispersa; errores en registros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Entorno: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Necesidad de adaptación a la digitalización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0533"/>
                </a:solidFill>
              </a:rPr>
              <a:t>Efectos: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401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Pérdida de clientes, errores en stock, atención lenta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60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160520" cy="384048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782312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Oportunidad de Mejora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Optimización de procesos operativos clave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Mejora del control de inventario en tiempo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139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Automatización de arriendos y ventas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Digitalización de la experiencia del cliente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Ampliación del alcance comercial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0029"/>
                </a:solidFill>
              </a:rPr>
              <a:t>Base sólida para futuras funcionalidades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Objetivos del Proyecto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143000"/>
          </a:xfrm>
          <a:prstGeom prst="rect">
            <a:avLst/>
          </a:prstGeom>
          <a:solidFill>
            <a:srgbClr val="1E05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B8"/>
                </a:solidFill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cloud para una PYME de arriendo y venta de vestuario, que permita gestionar de forma integral el catálogo, arriendos, ventas, devoluciones y control de stock, optimizando la gestión del negocio y mejorando la experiencia del cliente.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533"/>
                </a:solidFill>
              </a:rPr>
              <a:t>OBJETIVOS ESPECÍFICOS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578608"/>
            <a:ext cx="347472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59689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sistema de gestión integral con módulos CRUD para productos, clientes y tipos de daño, con trazabilidad del estado de cada prenda.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191256"/>
            <a:ext cx="347472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7432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3209544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módulo de arriendo y devolución con reservas, fechas definidas, agendamiento de citas y cálculo automático de costos por daños.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803904"/>
            <a:ext cx="347472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7432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3822192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la solución en entorno cloud utilizando servicios PaaS gratuitos, garantizando alta disponibilidad y acceso 24/7.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416552"/>
            <a:ext cx="347472" cy="347472"/>
          </a:xfrm>
          <a:prstGeom prst="rect">
            <a:avLst/>
          </a:prstGeom>
          <a:solidFill>
            <a:srgbClr val="C2006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27432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43484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mecanismos de autenticación y control de acceso por roles para proteger la información sensible.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6–7. Planificación y Distribución de Responsabilidades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533"/>
                </a:solidFill>
              </a:rPr>
              <a:t>Metodología Scrum — 4 Sprints de 2 semanas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120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005840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92608" y="1170432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170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Diseño BD, SQL, auth JWT, CRUD productos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117043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5120640" cy="475488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1005840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92608" y="1719072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3312" y="1719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Arriendos, devolución, clientes, Docker, Render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7190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51206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1005840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92608" y="2267712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2267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Frontend React, carrito, checkout, Cloudinary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267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5120640" cy="475488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2816352"/>
            <a:ext cx="1005840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92608" y="2816352"/>
            <a:ext cx="969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2816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102 pruebas unitarias, documentación, correcciones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8163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804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533"/>
                </a:solidFill>
              </a:rPr>
              <a:t>Distribución de Responsabilidades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32120" y="1170432"/>
            <a:ext cx="3337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532120" y="1170432"/>
            <a:ext cx="64008" cy="10058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669280" y="1216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0533"/>
                </a:solidFill>
              </a:rPr>
              <a:t>Gabriel Hermosilla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508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2006F"/>
                </a:solidFill>
              </a:rPr>
              <a:t>Analista / Coordinador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0" y="17647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CRUD productos, clientes, admin dashboard, coordinación general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2267712"/>
            <a:ext cx="3337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5532120" y="2267712"/>
            <a:ext cx="64008" cy="10058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669280" y="2313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0533"/>
                </a:solidFill>
              </a:rPr>
              <a:t>Deyanira Leyton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2606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2006F"/>
                </a:solidFill>
              </a:rPr>
              <a:t>Funcional / UX-UI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2862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Frontend React, UX/UI, catálogo, pruebas frontend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32120" y="3364992"/>
            <a:ext cx="3337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5532120" y="3364992"/>
            <a:ext cx="64008" cy="10058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5669280" y="3410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0533"/>
                </a:solidFill>
              </a:rPr>
              <a:t>Priscila Calderón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3703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2006F"/>
                </a:solidFill>
              </a:rPr>
              <a:t>Arquitecto Cloud / Backend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959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Backend Express, Docker, Render/Vercel, base de datos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Stack Tecnológico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10512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React 19 + TypeScript 5 + Vite 8 + Tailwind CSS 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00600" y="822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45352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Node.js 20 + Express 4 +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65760" y="1353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Base de Datos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10512" y="1353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PostgreSQL 15 (Supabase Cloud)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53312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800600" y="1353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Auth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1353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JWT (jsonwebtoken) + bcrypt (12 rounds)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83664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18836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Validación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10512" y="1883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Zod 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883664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00600" y="18836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Imágenes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45352" y="1883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Cloudinary + multer (in-memory)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14016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65760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Contenedor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10512" y="24140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Docker (node:20-alpine, multi-stage)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414016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800600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Deploy Frontend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5352" y="24140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Render (static site)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44368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365760" y="2944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Deploy 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10512" y="2944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Vercel (Docker runtime)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800600" y="2944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Pruebas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45352" y="2944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Vitest 4.1 + Testing Library + jsdom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6576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Docs API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10512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Swagger (swagger-jsdoc + swagger-ui-express)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474720"/>
            <a:ext cx="4206240" cy="45720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480060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Control versiones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45352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Git + GitHub + CI/CD automático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Requerimientos Funcionales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8229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Catálogo con filtros por categoría, tipo, disponibilidad y búsqueda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09160" y="8229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67528" y="8229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Detalle producto: galería, selección arriendo/compra, fechas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357884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74320" y="1357884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74320" y="135788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13578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Carrito: items mixtos (rent + sale), precios y 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7884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09160" y="1357884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709160" y="135788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67528" y="13578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Checkout: creación rentals y sales con rollback en caso de fallo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892808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1892808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74320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18928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Autenticación: login, register, JWT, roles (customer, admin, employee)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892808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09160" y="1892808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709160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18928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Perfil: datos, facturación, historial, enlace a arriendos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27732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274320" y="2427732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274320" y="24277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24277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Admin dashboard: CRUD completo (productos, clientes, arriendos, ventas...)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427732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709160" y="2427732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709160" y="24277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67528" y="24277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Gestión de inventario: stock en tiempo real, disponibilidad por fechas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962656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274320" y="2962656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74320" y="29626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" y="29626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Gestión de arriendos: fechas, precio automático, verificación disponibilidad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962656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4709160" y="2962656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4709160" y="296265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67528" y="29626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Devoluciones: estado, tipo de daño, recargo, actualización de stock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497580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274320" y="3497580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274320" y="34975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32688" y="34975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Despachos: datos de envío, courier, costo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497580"/>
            <a:ext cx="420624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4709160" y="3497580"/>
            <a:ext cx="566928" cy="47548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4709160" y="34975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RF12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67528" y="34975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Página Nosotros: info corporativa con misión/visión/objetivos desde API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EVALUACIÓN PARCIAL N°2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Pruebas y Desarrollo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IL2.1 · IL2.2 · IL2.3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IL2.1 — Diseño de la Solución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14.1 Metodología de Desarrollo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029"/>
                </a:solidFill>
              </a:rPr>
              <a:t>Metodología: Scrum con sprints de 2 semanas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682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029"/>
                </a:solidFill>
              </a:rPr>
              <a:t>Roles: Product Owner, Scrum Master, Dev Team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029"/>
                </a:solidFill>
              </a:rPr>
              <a:t>Herramientas: GitHub, tableros Kanban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029"/>
                </a:solidFill>
              </a:rPr>
              <a:t>Entrega incremental con revisiones al fin de sprint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78231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14.2 Patrones de Diseño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MVC Backend: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44768" y="12618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Router→Middleware→Controller→Service→DB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Repository: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44768" y="1682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Servicios de acceso a datos encapsulados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103120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800600" y="2103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Context Pattern: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44768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Estado global con React Context (Auth, Cart, Toast)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523744"/>
            <a:ext cx="416052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00600" y="252374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Component-Based: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44768" y="25237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UI dividida en componentes reutilizables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80060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Middleware Chain: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4768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auth → validate → controller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364992"/>
            <a:ext cx="416052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800600" y="33649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Rollback Pattern: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3364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Checkout con reversión ante fallos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Backend:  HTTP Request → Router → Middleware (auth → validate) → Controller → Service → Supabase DB  ↔  Response JSON / Error Handler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IL2.2 — Ambiente de Pruebas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533"/>
                </a:solidFill>
              </a:rPr>
              <a:t>Configuración del Entorno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37160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Aspecto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64208" y="1170432"/>
            <a:ext cx="16459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709928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1170432"/>
            <a:ext cx="16459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374136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137160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20040" y="1581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Entorno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64208" y="1581912"/>
            <a:ext cx="164592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709928" y="1581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Node.js nativo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28416" y="1581912"/>
            <a:ext cx="164592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374136" y="1581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jsdom (simula navegador)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99339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2004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Mocking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64208" y="19933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709928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vi.hoisted() Supabase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28416" y="199339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374136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vi.mock() + localStorage.clear()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404872"/>
            <a:ext cx="137160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20040" y="24048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Setup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64208" y="2404872"/>
            <a:ext cx="164592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709928" y="2404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vitest.config.ts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28416" y="2404872"/>
            <a:ext cx="1645920" cy="38404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374136" y="2404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test-setup.ts + jest-dom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816352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320040" y="2816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Globales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664208" y="281635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1709928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globals: true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28416" y="2816352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3374136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globals: true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533"/>
                </a:solidFill>
              </a:rPr>
              <a:t>Mejores Prácticas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Pruebas unitarias aisladas con vi.clearAllMocks()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66360" y="1563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Mocking de dependencias externas (Supabase, axios)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Sin dependencia de base de datos real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2350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Cobertura de casos borde: duplicados, negativos, roles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Nomenclatura clara: describe + acción + resultado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Patrón AAA (Arrange – Act – Assert)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66360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TypeScript strict: true en tsconfig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66360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0029"/>
                </a:solidFill>
              </a:rPr>
              <a:t>ESLint configurado con reglas TypeScript + React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B8"/>
                </a:solidFill>
              </a:rPr>
              <a:t>102 pruebas totales  |  79 backend  |  23 frontend  |  100% pasando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IL2.3 — Backup y Configuración del Servidor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16.1 Backup de Base de Datos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Herramienta: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27632" y="12618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pg_dump v17.10 vía Docker (postgres:17-alpine)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416052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47472" y="1664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Archivo: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27632" y="16642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vestitus_backup_20250530.sql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47472" y="2066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Tamaño: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27632" y="20665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216 KB (6.286 líneas)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16052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47472" y="2468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Automatización: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27632" y="24688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GitHub Actions — backup semanal domingos 03:00 UTC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47472" y="28712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Manual: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27632" y="287121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Supabase Dashboard → Database → Backups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78231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16.2 Configuración de Producción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61872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709160" y="1261872"/>
            <a:ext cx="4160520" cy="29260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773168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— Vercel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581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Docker runtime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JWT_SECRET, SUPABASE_URL/KEY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984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CLOUDINARY credentials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185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Deploy automático desde GitHub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432304"/>
            <a:ext cx="4160520" cy="1097280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709160" y="2432304"/>
            <a:ext cx="4160520" cy="29260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773168" y="2432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— Render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Static site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9535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VITE_API_URL env var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Build: npm run build → dist/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355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Rewrite: /* → /index.html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602736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4709160" y="3602736"/>
            <a:ext cx="4160520" cy="29260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773168" y="36027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BD — Supabase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922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Project URL + API Keys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123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Ejecutar vestitus-schema.sql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· Migraciones adicionales en SQL Editor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IL2.3 — Funcionalidades Implementadas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28600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Funcionalidad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78608" y="804672"/>
            <a:ext cx="45720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624328" y="8046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804672"/>
            <a:ext cx="292608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108960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07608" y="804672"/>
            <a:ext cx="292608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053328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20040" y="1188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Autenticación 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78608" y="1188720"/>
            <a:ext cx="457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624328" y="1188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3240" y="1188720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10896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login, register, me, logout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07608" y="1188720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053328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Login, Register, AuthContext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572768"/>
            <a:ext cx="22860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20040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Roles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1572768"/>
            <a:ext cx="4572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624328" y="1572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1572768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10896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Middleware authorize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07608" y="1572768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053328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ProtectedRoute, AdminRoute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1956816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320040" y="1956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Catálogo de productos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78608" y="1956816"/>
            <a:ext cx="457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624328" y="19568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63240" y="1956816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10896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CRUD + filtros + imágenes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07608" y="1956816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053328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Products, ProductDetail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340864"/>
            <a:ext cx="22860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20040" y="2340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Gestión de stock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78608" y="2340864"/>
            <a:ext cx="4572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2624328" y="23408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63240" y="2340864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3108960" y="23408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adjustStock, decremento automático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07608" y="2340864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6053328" y="23408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Badge sin stock, límite cantidad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2724912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320040" y="2724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Arriendos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78608" y="2724912"/>
            <a:ext cx="457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2624328" y="2724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063240" y="2724912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3108960" y="2724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CRUD + disponibilidad + cancelación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07608" y="2724912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6053328" y="2724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Rentals, Cart dates, Checkout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108960"/>
            <a:ext cx="22860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32004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Ventas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78608" y="3108960"/>
            <a:ext cx="4572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2624328" y="3108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063240" y="3108960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3108960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CRUD + delete con restauración stock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07608" y="3108960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6053328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Purchases, Cart, Checkout, Admin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3493008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320040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Devoluciones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78608" y="3493008"/>
            <a:ext cx="457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2624328" y="3493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063240" y="3493008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3108960" y="3493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CRUD + daños + recargo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007608" y="3493008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6053328" y="3493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Admin returns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3877056"/>
            <a:ext cx="22860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320040" y="3877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Despachos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78608" y="3877056"/>
            <a:ext cx="4572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/>
          <p:nvPr/>
        </p:nvSpPr>
        <p:spPr>
          <a:xfrm>
            <a:off x="2624328" y="38770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063240" y="3877056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3" name="Text 71"/>
          <p:cNvSpPr/>
          <p:nvPr/>
        </p:nvSpPr>
        <p:spPr>
          <a:xfrm>
            <a:off x="3108960" y="3877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CRUD completo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007608" y="3877056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6053328" y="3877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Admin dispatches CRUD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74320" y="4261104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7" name="Text 75"/>
          <p:cNvSpPr/>
          <p:nvPr/>
        </p:nvSpPr>
        <p:spPr>
          <a:xfrm>
            <a:off x="320040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Dashboard Admin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578608" y="4261104"/>
            <a:ext cx="457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9" name="Text 77"/>
          <p:cNvSpPr/>
          <p:nvPr/>
        </p:nvSpPr>
        <p:spPr>
          <a:xfrm>
            <a:off x="2624328" y="4261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063240" y="4261104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1" name="Text 79"/>
          <p:cNvSpPr/>
          <p:nvPr/>
        </p:nvSpPr>
        <p:spPr>
          <a:xfrm>
            <a:off x="3108960" y="4261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—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007608" y="4261104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3" name="Text 81"/>
          <p:cNvSpPr/>
          <p:nvPr/>
        </p:nvSpPr>
        <p:spPr>
          <a:xfrm>
            <a:off x="6053328" y="4261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8 pestañas CRUD, filtros, paginación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74320" y="4645152"/>
            <a:ext cx="22860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/>
          <p:nvPr/>
        </p:nvSpPr>
        <p:spPr>
          <a:xfrm>
            <a:off x="320040" y="46451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029"/>
                </a:solidFill>
              </a:rPr>
              <a:t>Documentación API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78608" y="4645152"/>
            <a:ext cx="45720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7" name="Text 85"/>
          <p:cNvSpPr/>
          <p:nvPr/>
        </p:nvSpPr>
        <p:spPr>
          <a:xfrm>
            <a:off x="2624328" y="4645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00D4"/>
                </a:solidFill>
              </a:rPr>
              <a:t>✅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063240" y="4645152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/>
          <p:nvPr/>
        </p:nvSpPr>
        <p:spPr>
          <a:xfrm>
            <a:off x="3108960" y="4645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Swagger UI con JSDoc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007608" y="4645152"/>
            <a:ext cx="2926080" cy="347472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1" name="Text 89"/>
          <p:cNvSpPr/>
          <p:nvPr/>
        </p:nvSpPr>
        <p:spPr>
          <a:xfrm>
            <a:off x="6053328" y="4645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17.3–17.4 — Buenas Prácticas y Seguridad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Buenas Prácticas de Programación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Código limpio: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91640" y="12618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Nombres descriptivos, funciones pequeñas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47472" y="16824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TypeScript strict: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168249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strict: true, tipos explícitos en todas las interfaces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47472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DRY: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10312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Middleware reutilizable (auth, validate, error handler)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47472" y="25237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Manejo de errores: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252374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errorHandler global, sin stack traces en producción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47472" y="29443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Async/await: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294436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Todas las ops asíncronas con try/catch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47472" y="33649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Validación en capas: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36499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Zod en entrada + lógica en servicios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85616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47472" y="3785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Composición: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91640" y="378561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Componentes React pequeños y reutilizables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47472" y="4206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006F"/>
                </a:solidFill>
              </a:rPr>
              <a:t>Separación concerns: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91640" y="42062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Páginas ↔ Contextos ↔ Servicios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78231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Seguridad Implementada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261872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782312" y="12618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JWT 24h: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0" y="12618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Tokens con expiración configurada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1682496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782312" y="168249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bcrypt 12: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0" y="168249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Contraseñas hasheadas con factor 12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210312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782312" y="2103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Helmet: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0" y="21031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Headers HTTP de seguridad + CSP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523744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4782312" y="252374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CORS: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943600" y="2523744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Orígenes permitidos via env var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9160" y="2944368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4782312" y="2944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Rate limiting: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43600" y="294436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100 req/15min global · 20/15min en /auth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9160" y="3364992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4782312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Validación Zod: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943600" y="336499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Todos los endpoints POST/PUT validados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3785616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4782312" y="37856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Roles: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43600" y="3785616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Middleware authorize protege rutas sensibles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09160" y="4206240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4782312" y="4206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Imágenes: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943600" y="42062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Solo vía backend → Cloudinary; MIME validados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Estado de Avance — 16/16 Módulos Completos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8328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Autenticación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450592" y="822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1460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Catálogo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26864" y="822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0872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Carrito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803136" y="8229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67144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Checkout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536192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1536192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74320" y="15361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Arriendos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1536192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2450592" y="1536192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2450592" y="15361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1460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Ventas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1536192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4626864" y="1536192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626864" y="15361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90872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Devoluciones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536192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6803136" y="1536192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803136" y="153619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67144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Despachos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249424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274320" y="2249424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74320" y="2249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Clientes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50592" y="2249424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2450592" y="2249424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2450592" y="2249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Info Corporativa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26864" y="2249424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4626864" y="2249424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4626864" y="2249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90872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Tipos de Daño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03136" y="2249424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6803136" y="2249424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6803136" y="224942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67144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Admin Dashboard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962656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274320" y="2962656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274320" y="2962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8328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Pruebas Backend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50592" y="2962656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7" name="Shape 55"/>
          <p:cNvSpPr/>
          <p:nvPr/>
        </p:nvSpPr>
        <p:spPr>
          <a:xfrm>
            <a:off x="2450592" y="2962656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8" name="Text 56"/>
          <p:cNvSpPr/>
          <p:nvPr/>
        </p:nvSpPr>
        <p:spPr>
          <a:xfrm>
            <a:off x="2450592" y="2962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Pruebas Frontend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26864" y="2962656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1" name="Shape 59"/>
          <p:cNvSpPr/>
          <p:nvPr/>
        </p:nvSpPr>
        <p:spPr>
          <a:xfrm>
            <a:off x="4626864" y="2962656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2" name="Text 60"/>
          <p:cNvSpPr/>
          <p:nvPr/>
        </p:nvSpPr>
        <p:spPr>
          <a:xfrm>
            <a:off x="4626864" y="2962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90872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Docs API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03136" y="2962656"/>
            <a:ext cx="2057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5" name="Shape 63"/>
          <p:cNvSpPr/>
          <p:nvPr/>
        </p:nvSpPr>
        <p:spPr>
          <a:xfrm>
            <a:off x="6803136" y="2962656"/>
            <a:ext cx="2057400" cy="164592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Text 64"/>
          <p:cNvSpPr/>
          <p:nvPr/>
        </p:nvSpPr>
        <p:spPr>
          <a:xfrm>
            <a:off x="6803136" y="2962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100%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67144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029"/>
                </a:solidFill>
              </a:rPr>
              <a:t>Docker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4320" y="3767328"/>
            <a:ext cx="2057400" cy="1188720"/>
          </a:xfrm>
          <a:prstGeom prst="rect">
            <a:avLst/>
          </a:prstGeom>
          <a:solidFill>
            <a:srgbClr val="1E05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274320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B8"/>
                </a:solidFill>
              </a:rPr>
              <a:t>102</a:t>
            </a:r>
            <a:endParaRPr lang="en-US" sz="3600" dirty="0"/>
          </a:p>
        </p:txBody>
      </p:sp>
      <p:sp>
        <p:nvSpPr>
          <p:cNvPr id="70" name="Text 68"/>
          <p:cNvSpPr/>
          <p:nvPr/>
        </p:nvSpPr>
        <p:spPr>
          <a:xfrm>
            <a:off x="274320" y="4544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F8"/>
                </a:solidFill>
              </a:rPr>
              <a:t>Tests totales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450592" y="3767328"/>
            <a:ext cx="2057400" cy="1188720"/>
          </a:xfrm>
          <a:prstGeom prst="rect">
            <a:avLst/>
          </a:prstGeom>
          <a:solidFill>
            <a:srgbClr val="1E05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2" name="Text 70"/>
          <p:cNvSpPr/>
          <p:nvPr/>
        </p:nvSpPr>
        <p:spPr>
          <a:xfrm>
            <a:off x="2450592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B8"/>
                </a:solidFill>
              </a:rPr>
              <a:t>16/16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2450592" y="4544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F8"/>
                </a:solidFill>
              </a:rPr>
              <a:t>Módulos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626864" y="3767328"/>
            <a:ext cx="2057400" cy="1188720"/>
          </a:xfrm>
          <a:prstGeom prst="rect">
            <a:avLst/>
          </a:prstGeom>
          <a:solidFill>
            <a:srgbClr val="1E05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4626864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B8"/>
                </a:solidFill>
              </a:rPr>
              <a:t>~45</a:t>
            </a:r>
            <a:endParaRPr lang="en-US" sz="3600" dirty="0"/>
          </a:p>
        </p:txBody>
      </p:sp>
      <p:sp>
        <p:nvSpPr>
          <p:cNvPr id="76" name="Text 74"/>
          <p:cNvSpPr/>
          <p:nvPr/>
        </p:nvSpPr>
        <p:spPr>
          <a:xfrm>
            <a:off x="4626864" y="4544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F8"/>
                </a:solidFill>
              </a:rPr>
              <a:t>Endpoints API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803136" y="3767328"/>
            <a:ext cx="2057400" cy="1188720"/>
          </a:xfrm>
          <a:prstGeom prst="rect">
            <a:avLst/>
          </a:prstGeom>
          <a:solidFill>
            <a:srgbClr val="1E05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8" name="Text 76"/>
          <p:cNvSpPr/>
          <p:nvPr/>
        </p:nvSpPr>
        <p:spPr>
          <a:xfrm>
            <a:off x="6803136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DB8"/>
                </a:solidFill>
              </a:rPr>
              <a:t>~12K</a:t>
            </a:r>
            <a:endParaRPr lang="en-US" sz="3600" dirty="0"/>
          </a:p>
        </p:txBody>
      </p:sp>
      <p:sp>
        <p:nvSpPr>
          <p:cNvPr id="79" name="Text 77"/>
          <p:cNvSpPr/>
          <p:nvPr/>
        </p:nvSpPr>
        <p:spPr>
          <a:xfrm>
            <a:off x="6803136" y="4544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F8"/>
                </a:solidFill>
              </a:rPr>
              <a:t>Líneas código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Pruebas Ejecutadas — 102 Tests (100% pasando)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— 79 Tests (7 archivos)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validators.test.ts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261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Schemas Zod: register, login, product, client, rental...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68780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47472" y="16687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auth.middleware.test.ts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6687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authenticate (válido/inválido/ausente), authorize (roles)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47472" y="2075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validate.middleware.test.ts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0756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Validación Zod (body válido/inválido, query, mutación)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82596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47472" y="24825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auth.service.test.ts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4825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registerUser, authenticateUser, getUserById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47472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product.service.test.ts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CRUD, filtros, adjustStock, checkAvailability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96412"/>
            <a:ext cx="4160520" cy="365760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47472" y="32964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rental.service.test.ts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32964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findAll, findByClientId, create/update/delete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1605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47472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sale.service.test.ts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findAll, findByClientId, create/update, stock checks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782312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— 23 Tests (4 archivos)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261872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782312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products.service.test.ts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82312" y="1490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getAll (filtros, mapping), getById, create/update/delete, uploadImage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1810512"/>
            <a:ext cx="416052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782312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ToastContext.test.tsx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2312" y="2039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show/dismiss/auto-remove toasts, múltiples toasts, botón cerrar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359152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782312" y="2359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CartContext.test.tsx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82312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addItem (venta/arriendo, duplicados, total), clearCart, toast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907792"/>
            <a:ext cx="4160520" cy="475488"/>
          </a:xfrm>
          <a:prstGeom prst="rect">
            <a:avLst/>
          </a:prstGeom>
          <a:solidFill>
            <a:srgbClr val="F3E6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782312" y="2907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00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AuthContext.test.tsx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82312" y="3136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029"/>
                </a:solidFill>
              </a:rPr>
              <a:t>login/logout, detección roles admin/employee/customer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8B00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79 backend + 23 frontend = 102 tests   |   0 fallos   |   100% TypeScript sin errores de compilación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INFORME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del proyecto Vestitus — Mayo 2026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Conclusiones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Cobertura funcional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252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100% de los módulos planificados implementados. 16 módulos con CRUD completo en backend y frontend.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80060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🧪  Calidad del software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2252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102 pruebas unitarias al 100%, validación Zod en todos los endpoints, TypeScript strict sin errores de compilación.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65760" y="2212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Ambiente de pruebas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61518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Vitest + jsdom + Testing Library con mocks aislados, sin dependencia de BD real, cobertura de casos borde y patrón AAA.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12848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09160" y="2212848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00600" y="2212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Seguridad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261518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JWT con expiración, bcrypt, Helmet, CORS, rate limiting, validación en capas y service role key protegida.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65760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Arquitectura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400507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MVC backend con middleware chain. Component-based + Context Pattern en frontend. Docker multi-stage para despliegue.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4160520" cy="347472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800600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Despliegue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400507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0029"/>
                </a:solidFill>
              </a:rPr>
              <a:t>Backend en Vercel (Docker), frontend en Render (static), BD en Supabase Cloud. CI/CD automatizado con GitHub Actions.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05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Lecciones Aprendidas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38912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Mocking en TypeScript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vi.hoisted() es requerido para crear objetos mock antes de que vi.mock() sea evaluado — crítico para tests de Supabase en backend.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941832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873752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React 19 y librerías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73752" y="11704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Verificar compatibilidad antes de elegir dependencias: react-modern-calendar-datepicker (2020) falla con React 19.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416052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38912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Rollback en checkout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Implementar DELETE /sales/:id restaurando stock automáticamente permite rollback completo de rentals y ventas.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847088"/>
            <a:ext cx="4160520" cy="941832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09160" y="1847088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73752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Cold starts en free tier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73752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Render duerme el servicio tras 15 min. sampleProducts hardcodeados en frontend mitigan el problema visualmente.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2871216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38912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Supabase joins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Al hacer .select('*, products(*)'), Supabase devuelve el nombre de tabla plural, no el singular. Requiere mapeo en controladores.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871216"/>
            <a:ext cx="4160520" cy="941832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873752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Cache de Vite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Al cambiar dependencias, eliminar node_modules/.vite evita errores de caché sucia.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95344"/>
            <a:ext cx="416052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38912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Context order en React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8912" y="42428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ToastContext debe envolver CartProvider para que CartContext pueda usar useToast.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895344"/>
            <a:ext cx="4160520" cy="941832"/>
          </a:xfrm>
          <a:prstGeom prst="rect">
            <a:avLst/>
          </a:prstGeom>
          <a:solidFill>
            <a:srgbClr val="F3E6F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709160" y="3895344"/>
            <a:ext cx="64008" cy="941832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873752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0533"/>
                </a:solidFill>
              </a:rPr>
              <a:t>IPv6 en Docker Windows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73752" y="42428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029"/>
                </a:solidFill>
              </a:rPr>
              <a:t>Supabase solo acepta conexiones directas por IPv6. Solución: --network host o connection pooler (puerto 6543).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VESTITUS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Arriendo y Venta de Vestuario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36576"/>
          </a:xfrm>
          <a:prstGeom prst="rect">
            <a:avLst/>
          </a:prstGeom>
          <a:solidFill>
            <a:srgbClr val="C2006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 N°2 — Completo al 100%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módulos · 102 tests · CI/CD · Cloud deploy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FD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Grupo 3 | Mayo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4069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Repositorio: github.com/Geber-Dev0/Portafolio_GDP  |  API: portafolio-gdp.onrender.com/api  |  Swagger: /api/docs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Microsoft Office PowerPoint</Application>
  <PresentationFormat>On-screen Show (16:9)</PresentationFormat>
  <Paragraphs>450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Vestitus — Estado de Avance EP2</dc:title>
  <dc:subject>PptxGenJS Presentation</dc:subject>
  <dc:creator>PptxGenJS</dc:creator>
  <cp:lastModifiedBy>GABRIEL EDUARDO HERMOSILLA GAJARDO</cp:lastModifiedBy>
  <cp:revision>2</cp:revision>
  <dcterms:created xsi:type="dcterms:W3CDTF">2026-05-30T14:32:01Z</dcterms:created>
  <dcterms:modified xsi:type="dcterms:W3CDTF">2026-05-30T15:54:27Z</dcterms:modified>
</cp:coreProperties>
</file>