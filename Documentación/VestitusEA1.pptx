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37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009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913EC-8D60-47E1-702B-519E85A68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E5A9BA-99AF-7053-D9AC-743CE9670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DEDC1-5D9F-D5E8-7007-61DDD09EE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D3BEA-C7E0-FE6D-13A3-4C5C3AFE4E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59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C4556A">
              <a:alpha val="20000"/>
            </a:srgbClr>
          </a:solidFill>
          <a:ln w="12700">
            <a:solidFill>
              <a:srgbClr val="C4556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6400800" y="-457200"/>
            <a:ext cx="3474720" cy="3474720"/>
          </a:xfrm>
          <a:prstGeom prst="ellipse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TPY1101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Tienda de Ropa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4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de Arriendo y Venta de Vestuario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560320" cy="384048"/>
          </a:xfrm>
          <a:prstGeom prst="roundRect">
            <a:avLst>
              <a:gd name="adj" fmla="val 47619"/>
            </a:avLst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Evaluación N°1 — Estado de Avance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Hermosilla  ·  Deyanira Leyton  ·  Priscila Calderón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Claudio Quintana Valderrama  ·  DUOC UC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C4556A">
              <a:alpha val="60000"/>
            </a:srgbClr>
          </a:solidFill>
          <a:ln w="12700">
            <a:solidFill>
              <a:srgbClr val="C4556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Taller Aplicado de Programación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1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 de vestuario operando 100% manual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438912" cy="438912"/>
          </a:xfrm>
          <a:prstGeom prst="ellipse">
            <a:avLst/>
          </a:prstGeom>
          <a:solidFill>
            <a:srgbClr val="4A1942">
              <a:alpha val="15000"/>
            </a:srgbClr>
          </a:solidFill>
          <a:ln w="12700">
            <a:solidFill>
              <a:srgbClr val="4A194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3533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por WhatsApp sin registro formal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438912" cy="438912"/>
          </a:xfrm>
          <a:prstGeom prst="ellipse">
            <a:avLst/>
          </a:prstGeom>
          <a:solidFill>
            <a:srgbClr val="4A1942">
              <a:alpha val="15000"/>
            </a:srgbClr>
          </a:solidFill>
          <a:ln w="12700">
            <a:solidFill>
              <a:srgbClr val="4A194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0391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en Excel sin actualización automática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97480"/>
            <a:ext cx="438912" cy="438912"/>
          </a:xfrm>
          <a:prstGeom prst="ellipse">
            <a:avLst/>
          </a:prstGeom>
          <a:solidFill>
            <a:srgbClr val="4A1942">
              <a:alpha val="15000"/>
            </a:srgbClr>
          </a:solidFill>
          <a:ln w="12700">
            <a:solidFill>
              <a:srgbClr val="4A194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🖼️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7249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disperso en redes sociales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383280"/>
            <a:ext cx="438912" cy="438912"/>
          </a:xfrm>
          <a:prstGeom prst="ellipse">
            <a:avLst/>
          </a:prstGeom>
          <a:solidFill>
            <a:srgbClr val="4A1942">
              <a:alpha val="15000"/>
            </a:srgbClr>
          </a:solidFill>
          <a:ln w="12700">
            <a:solidFill>
              <a:srgbClr val="4A194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↩️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4107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Devoluciones informales, sin cobro de daños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069080"/>
            <a:ext cx="438912" cy="438912"/>
          </a:xfrm>
          <a:prstGeom prst="ellipse">
            <a:avLst/>
          </a:prstGeom>
          <a:solidFill>
            <a:srgbClr val="4A1942">
              <a:alpha val="15000"/>
            </a:srgbClr>
          </a:solidFill>
          <a:ln w="12700">
            <a:solidFill>
              <a:srgbClr val="4A194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11480" y="4069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0965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base de datos de clientes estructurada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03520" y="274320"/>
            <a:ext cx="3566160" cy="461772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5394960" y="411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negocio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32120" y="1005840"/>
            <a:ext cx="548640" cy="548640"/>
          </a:xfrm>
          <a:prstGeom prst="ellipse">
            <a:avLst/>
          </a:prstGeom>
          <a:solidFill>
            <a:srgbClr val="C4556A">
              <a:alpha val="70000"/>
            </a:srgbClr>
          </a:solidFill>
          <a:ln w="12700">
            <a:solidFill>
              <a:srgbClr val="C4556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553212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72200" y="10241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clientes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32120" y="1965960"/>
            <a:ext cx="548640" cy="548640"/>
          </a:xfrm>
          <a:prstGeom prst="ellipse">
            <a:avLst/>
          </a:prstGeom>
          <a:solidFill>
            <a:srgbClr val="C4556A">
              <a:alpha val="70000"/>
            </a:srgbClr>
          </a:solidFill>
          <a:ln w="12700">
            <a:solidFill>
              <a:srgbClr val="C4556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55321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72200" y="19842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lentos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ineficientes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532120" y="2926080"/>
            <a:ext cx="548640" cy="548640"/>
          </a:xfrm>
          <a:prstGeom prst="ellipse">
            <a:avLst/>
          </a:prstGeom>
          <a:solidFill>
            <a:srgbClr val="C4556A">
              <a:alpha val="70000"/>
            </a:srgbClr>
          </a:solidFill>
          <a:ln w="12700">
            <a:solidFill>
              <a:srgbClr val="C4556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553212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72200" y="29443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competitividad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mercado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532120" y="3886200"/>
            <a:ext cx="548640" cy="548640"/>
          </a:xfrm>
          <a:prstGeom prst="ellipse">
            <a:avLst/>
          </a:prstGeom>
          <a:solidFill>
            <a:srgbClr val="C4556A">
              <a:alpha val="70000"/>
            </a:srgbClr>
          </a:solidFill>
          <a:ln w="12700">
            <a:solidFill>
              <a:srgbClr val="C4556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553212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72200" y="39044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cobros por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daños en prendas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1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integral en la nube para digitalizar y automatizar el negocio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29768" y="1408176"/>
            <a:ext cx="475488" cy="475488"/>
          </a:xfrm>
          <a:prstGeom prst="ellipse">
            <a:avLst/>
          </a:prstGeom>
          <a:solidFill>
            <a:srgbClr val="4A1942">
              <a:alpha val="20000"/>
            </a:srgbClr>
          </a:solidFill>
          <a:ln w="12700">
            <a:solidFill>
              <a:srgbClr val="4A194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29768" y="14081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4264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Digital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956816"/>
            <a:ext cx="24140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Imágenes, filtros por categoría y estado de prendas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261872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3264408" y="1408176"/>
            <a:ext cx="475488" cy="475488"/>
          </a:xfrm>
          <a:prstGeom prst="ellipse">
            <a:avLst/>
          </a:prstGeom>
          <a:solidFill>
            <a:srgbClr val="C4556A">
              <a:alpha val="20000"/>
            </a:srgbClr>
          </a:solidFill>
          <a:ln w="12700">
            <a:solidFill>
              <a:srgbClr val="C4556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264408" y="14081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14264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Arriendos &amp; Reservas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956816"/>
            <a:ext cx="24140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online con fechas y citas de prueba en tienda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261872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099048" y="1408176"/>
            <a:ext cx="475488" cy="475488"/>
          </a:xfrm>
          <a:prstGeom prst="ellipse">
            <a:avLst/>
          </a:prstGeom>
          <a:solidFill>
            <a:srgbClr val="2A9D8F">
              <a:alpha val="20000"/>
            </a:srgbClr>
          </a:solidFill>
          <a:ln w="1270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099048" y="14081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🛍️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14264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Online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9048" y="1956816"/>
            <a:ext cx="24140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Comercialización de calzado con pago por transferencia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090672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429768" y="3236976"/>
            <a:ext cx="475488" cy="475488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29768" y="3236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↩️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2552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Devoluciones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3785616"/>
            <a:ext cx="24140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daños y cálculo automático de costos extras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3090672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3264408" y="3236976"/>
            <a:ext cx="475488" cy="475488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3264408" y="3236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40480" y="32552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Clientes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64408" y="3785616"/>
            <a:ext cx="24140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diferenciado: persona, empresa, agrupación cultural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3090672"/>
            <a:ext cx="263347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6099048" y="3236976"/>
            <a:ext cx="475488" cy="47548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6099048" y="3236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🚚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75120" y="32552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99048" y="3785616"/>
            <a:ext cx="24140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Chilexpress y Starken para envíos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320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B8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Proyecto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4556A"/>
                </a:solidFill>
              </a:rPr>
              <a:t>GENERAL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web cloud que gestione catálogo, arriendos, ventas, devoluciones y stock de forma integral.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017520"/>
            <a:ext cx="3200400" cy="27432"/>
          </a:xfrm>
          <a:prstGeom prst="rect">
            <a:avLst/>
          </a:prstGeom>
          <a:solidFill>
            <a:srgbClr val="C4556A">
              <a:alpha val="50000"/>
            </a:srgbClr>
          </a:solidFill>
          <a:ln w="12700">
            <a:solidFill>
              <a:srgbClr val="C4556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27432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4556A"/>
                </a:solidFill>
              </a:rPr>
              <a:t>ESPECÍFICOS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3566160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548640" y="352958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CRUD: productos, clientes y tipos de daño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4224528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548640" y="41879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arriendo con fechas, citas y cálculo automático de costos por daños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0" y="3657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1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Alcance en números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0" y="91440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AF3F0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114800" y="1051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C45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5800" dirty="0"/>
          </a:p>
        </p:txBody>
      </p:sp>
      <p:sp>
        <p:nvSpPr>
          <p:cNvPr id="16" name="Text 14"/>
          <p:cNvSpPr/>
          <p:nvPr/>
        </p:nvSpPr>
        <p:spPr>
          <a:xfrm>
            <a:off x="411480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91440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AF3F0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446520" y="1051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C45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800" dirty="0"/>
          </a:p>
        </p:txBody>
      </p:sp>
      <p:sp>
        <p:nvSpPr>
          <p:cNvPr id="19" name="Text 17"/>
          <p:cNvSpPr/>
          <p:nvPr/>
        </p:nvSpPr>
        <p:spPr>
          <a:xfrm>
            <a:off x="644652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0" y="292608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AF3F0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114800" y="30632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C45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800" dirty="0"/>
          </a:p>
        </p:txBody>
      </p:sp>
      <p:sp>
        <p:nvSpPr>
          <p:cNvPr id="22" name="Text 20"/>
          <p:cNvSpPr/>
          <p:nvPr/>
        </p:nvSpPr>
        <p:spPr>
          <a:xfrm>
            <a:off x="4114800" y="4023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desarrollo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2926080"/>
            <a:ext cx="2103120" cy="1737360"/>
          </a:xfrm>
          <a:prstGeom prst="roundRect">
            <a:avLst>
              <a:gd name="adj" fmla="val 6316"/>
            </a:avLst>
          </a:prstGeom>
          <a:solidFill>
            <a:srgbClr val="FAF3F0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446520" y="30632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C45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800" dirty="0"/>
          </a:p>
        </p:txBody>
      </p:sp>
      <p:sp>
        <p:nvSpPr>
          <p:cNvPr id="25" name="Text 23"/>
          <p:cNvSpPr/>
          <p:nvPr/>
        </p:nvSpPr>
        <p:spPr>
          <a:xfrm>
            <a:off x="6446520" y="4023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1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Causas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Ishikawa  ·  Problema central: Dificultad en la gestión de arriendo y venta de vestuario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7132320" cy="0"/>
          </a:xfrm>
          <a:prstGeom prst="line">
            <a:avLst/>
          </a:prstGeom>
          <a:noFill/>
          <a:ln w="381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635240" y="2395728"/>
            <a:ext cx="1325880" cy="868680"/>
          </a:xfrm>
          <a:prstGeom prst="roundRect">
            <a:avLst>
              <a:gd name="adj" fmla="val 10526"/>
            </a:avLst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635240" y="2395728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Sin herramienta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digital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4300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Método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37360" y="1490472"/>
            <a:ext cx="0" cy="1344168"/>
          </a:xfrm>
          <a:prstGeom prst="line">
            <a:avLst/>
          </a:prstGeom>
          <a:noFill/>
          <a:ln w="1905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868680" y="1581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Procesos manuales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1892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estandarización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22037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control devoluciones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0" y="114300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474720" y="11430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Tecnología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490472"/>
            <a:ext cx="0" cy="1344168"/>
          </a:xfrm>
          <a:prstGeom prst="line">
            <a:avLst/>
          </a:prstGeom>
          <a:noFill/>
          <a:ln w="1905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429000" y="1581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sistema digital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29000" y="1892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automatización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29000" y="22037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plataforma web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40690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914400" y="40690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37360" y="2834640"/>
            <a:ext cx="0" cy="1234440"/>
          </a:xfrm>
          <a:prstGeom prst="line">
            <a:avLst/>
          </a:prstGeom>
          <a:noFill/>
          <a:ln w="1905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868680" y="37124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 dispersa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" y="34564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Errores en registros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8680" y="3200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 trazabilidad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0" y="40690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3474720" y="40690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Entorno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2834640"/>
            <a:ext cx="0" cy="1234440"/>
          </a:xfrm>
          <a:prstGeom prst="line">
            <a:avLst/>
          </a:prstGeom>
          <a:noFill/>
          <a:ln w="1905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3429000" y="34564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Baja digitalización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29000" y="3200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Competencia digital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4A1942">
              <a:alpha val="12000"/>
            </a:srgbClr>
          </a:solidFill>
          <a:ln w="12700">
            <a:solidFill>
              <a:srgbClr val="4A194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Efectos:  Pérdida de clientes  ·  Errores de stock  ·  Procesos lentos  ·  Baja calidad de atención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100% cloud — sin costo de infraestructura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914400" cy="3108960"/>
          </a:xfrm>
          <a:prstGeom prst="roundRect">
            <a:avLst>
              <a:gd name="adj" fmla="val 8000"/>
            </a:avLst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 rot="16200000">
            <a:off x="365760" y="1280160"/>
            <a:ext cx="914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17320" y="1152144"/>
            <a:ext cx="7406640" cy="658368"/>
          </a:xfrm>
          <a:prstGeom prst="roundRect">
            <a:avLst>
              <a:gd name="adj" fmla="val 11111"/>
            </a:avLst>
          </a:prstGeom>
          <a:solidFill>
            <a:srgbClr val="FAF3F0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554480" y="119786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554480" y="1508760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4A1942">
              <a:alpha val="20000"/>
            </a:srgbClr>
          </a:solidFill>
          <a:ln w="12700">
            <a:solidFill>
              <a:srgbClr val="4A194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554480" y="15087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1942"/>
                </a:solidFill>
              </a:rPr>
              <a:t>Frontend SPA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0" y="121615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filtrable, formularios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417320" y="1929384"/>
            <a:ext cx="7406640" cy="658368"/>
          </a:xfrm>
          <a:prstGeom prst="roundRect">
            <a:avLst>
              <a:gd name="adj" fmla="val 11111"/>
            </a:avLst>
          </a:prstGeom>
          <a:solidFill>
            <a:srgbClr val="FAF3F0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1554480" y="19751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554480" y="2286000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4A1942">
              <a:alpha val="20000"/>
            </a:srgbClr>
          </a:solidFill>
          <a:ln w="12700">
            <a:solidFill>
              <a:srgbClr val="4A194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1554480" y="22860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1942"/>
                </a:solidFill>
              </a:rPr>
              <a:t>Backend API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0" y="19933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y cálculos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417320" y="2706624"/>
            <a:ext cx="7406640" cy="658368"/>
          </a:xfrm>
          <a:prstGeom prst="roundRect">
            <a:avLst>
              <a:gd name="adj" fmla="val 11111"/>
            </a:avLst>
          </a:prstGeom>
          <a:solidFill>
            <a:srgbClr val="FAF3F0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554480" y="2752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554480" y="3063240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4A1942">
              <a:alpha val="20000"/>
            </a:srgbClr>
          </a:solidFill>
          <a:ln w="12700">
            <a:solidFill>
              <a:srgbClr val="4A194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1554480" y="306324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1942"/>
                </a:solidFill>
              </a:rPr>
              <a:t>BD + Auth + JWT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0" y="27706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Row Level Security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417320" y="3483864"/>
            <a:ext cx="7406640" cy="658368"/>
          </a:xfrm>
          <a:prstGeom prst="roundRect">
            <a:avLst>
              <a:gd name="adj" fmla="val 11111"/>
            </a:avLst>
          </a:prstGeom>
          <a:solidFill>
            <a:srgbClr val="FAF3F0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1554480" y="35295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/ Render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554480" y="3840480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4A1942">
              <a:alpha val="20000"/>
            </a:srgbClr>
          </a:solidFill>
          <a:ln w="12700">
            <a:solidFill>
              <a:srgbClr val="4A194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1554480" y="384048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1942"/>
                </a:solidFill>
              </a:rPr>
              <a:t>Deploy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0" y="35478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automático desde GitHub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7C7E2-A6B5-CE53-6905-6E0F6551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2D409AA-DAB4-09E7-1825-2042CA54A29E}"/>
              </a:ext>
            </a:extLst>
          </p:cNvPr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509869-8EAB-B496-6392-04F36D8A1E62}"/>
              </a:ext>
            </a:extLst>
          </p:cNvPr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100% cloud — sin costo de infraestructura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E1A7DC-3016-7839-38C4-763DB1827D96}"/>
              </a:ext>
            </a:extLst>
          </p:cNvPr>
          <p:cNvSpPr/>
          <p:nvPr/>
        </p:nvSpPr>
        <p:spPr>
          <a:xfrm rot="16200000">
            <a:off x="365760" y="1280160"/>
            <a:ext cx="914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PaaS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93C08C1-7B5E-0D21-1D65-2E65B4E4C832}"/>
              </a:ext>
            </a:extLst>
          </p:cNvPr>
          <p:cNvSpPr/>
          <p:nvPr/>
        </p:nvSpPr>
        <p:spPr>
          <a:xfrm>
            <a:off x="365759" y="1856232"/>
            <a:ext cx="914400" cy="233172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FD0D91E-9957-39DC-7677-BB1456FDAC0F}"/>
              </a:ext>
            </a:extLst>
          </p:cNvPr>
          <p:cNvSpPr/>
          <p:nvPr/>
        </p:nvSpPr>
        <p:spPr>
          <a:xfrm rot="16200000">
            <a:off x="372794" y="1810512"/>
            <a:ext cx="914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SaaS</a:t>
            </a:r>
            <a:endParaRPr lang="en-US" sz="14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BB335F1-E98C-F659-B4A3-A9890061CE8D}"/>
              </a:ext>
            </a:extLst>
          </p:cNvPr>
          <p:cNvSpPr/>
          <p:nvPr/>
        </p:nvSpPr>
        <p:spPr>
          <a:xfrm>
            <a:off x="1554480" y="1856232"/>
            <a:ext cx="7406640" cy="658368"/>
          </a:xfrm>
          <a:prstGeom prst="roundRect">
            <a:avLst>
              <a:gd name="adj" fmla="val 11111"/>
            </a:avLst>
          </a:prstGeom>
          <a:solidFill>
            <a:srgbClr val="FAF3F0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594BDE3-BC4A-1C71-E6C0-20B82B0527FE}"/>
              </a:ext>
            </a:extLst>
          </p:cNvPr>
          <p:cNvSpPr/>
          <p:nvPr/>
        </p:nvSpPr>
        <p:spPr>
          <a:xfrm>
            <a:off x="1691640" y="1901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4B055DD-7B4C-C977-D4FE-999B3DC90F60}"/>
              </a:ext>
            </a:extLst>
          </p:cNvPr>
          <p:cNvSpPr/>
          <p:nvPr/>
        </p:nvSpPr>
        <p:spPr>
          <a:xfrm>
            <a:off x="1691640" y="2212848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2A9D8F">
              <a:alpha val="20000"/>
            </a:srgbClr>
          </a:solidFill>
          <a:ln w="1270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5E14A2F-58DA-6B96-C365-AC97D0E0419E}"/>
              </a:ext>
            </a:extLst>
          </p:cNvPr>
          <p:cNvSpPr/>
          <p:nvPr/>
        </p:nvSpPr>
        <p:spPr>
          <a:xfrm>
            <a:off x="1691640" y="22128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9D8F"/>
                </a:solidFill>
              </a:rPr>
              <a:t>Control versiones</a:t>
            </a:r>
            <a:endParaRPr lang="en-US" sz="8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6776DCC-46F1-8B7A-979A-DD4F72AFC9BA}"/>
              </a:ext>
            </a:extLst>
          </p:cNvPr>
          <p:cNvSpPr/>
          <p:nvPr/>
        </p:nvSpPr>
        <p:spPr>
          <a:xfrm>
            <a:off x="379476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+ Pull Requests + Kanban</a:t>
            </a:r>
            <a:endParaRPr lang="en-US" sz="11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8F2F6AC-CC7A-40C6-CB82-A16ECCD692DA}"/>
              </a:ext>
            </a:extLst>
          </p:cNvPr>
          <p:cNvSpPr/>
          <p:nvPr/>
        </p:nvSpPr>
        <p:spPr>
          <a:xfrm>
            <a:off x="1554480" y="2633472"/>
            <a:ext cx="7406640" cy="658368"/>
          </a:xfrm>
          <a:prstGeom prst="roundRect">
            <a:avLst>
              <a:gd name="adj" fmla="val 11111"/>
            </a:avLst>
          </a:prstGeom>
          <a:solidFill>
            <a:srgbClr val="FAF3F0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9208266-960D-7310-4E61-9823F573A684}"/>
              </a:ext>
            </a:extLst>
          </p:cNvPr>
          <p:cNvSpPr/>
          <p:nvPr/>
        </p:nvSpPr>
        <p:spPr>
          <a:xfrm>
            <a:off x="1691640" y="2679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2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5D00215-4833-2F66-A7B5-801FC317C388}"/>
              </a:ext>
            </a:extLst>
          </p:cNvPr>
          <p:cNvSpPr/>
          <p:nvPr/>
        </p:nvSpPr>
        <p:spPr>
          <a:xfrm>
            <a:off x="1691640" y="2990088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2A9D8F">
              <a:alpha val="20000"/>
            </a:srgbClr>
          </a:solidFill>
          <a:ln w="1270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157C055-908C-E740-291D-E95C0772F535}"/>
              </a:ext>
            </a:extLst>
          </p:cNvPr>
          <p:cNvSpPr/>
          <p:nvPr/>
        </p:nvSpPr>
        <p:spPr>
          <a:xfrm>
            <a:off x="1691640" y="299008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9D8F"/>
                </a:solidFill>
              </a:rPr>
              <a:t>UI Framework</a:t>
            </a:r>
            <a:endParaRPr lang="en-US" sz="8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F9A9CF3-7FC7-301A-F898-4CA4EF107AB2}"/>
              </a:ext>
            </a:extLst>
          </p:cNvPr>
          <p:cNvSpPr/>
          <p:nvPr/>
        </p:nvSpPr>
        <p:spPr>
          <a:xfrm>
            <a:off x="3794760" y="2697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responsivo vía CDN</a:t>
            </a:r>
            <a:endParaRPr lang="en-US" sz="11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87C4A63-A3BA-37A7-87AA-1DE77A2FD380}"/>
              </a:ext>
            </a:extLst>
          </p:cNvPr>
          <p:cNvSpPr/>
          <p:nvPr/>
        </p:nvSpPr>
        <p:spPr>
          <a:xfrm>
            <a:off x="1554480" y="3410712"/>
            <a:ext cx="7406640" cy="658368"/>
          </a:xfrm>
          <a:prstGeom prst="roundRect">
            <a:avLst>
              <a:gd name="adj" fmla="val 11111"/>
            </a:avLst>
          </a:prstGeom>
          <a:solidFill>
            <a:srgbClr val="FAF3F0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6BBB9CA-0661-243A-5963-3B08FA46740E}"/>
              </a:ext>
            </a:extLst>
          </p:cNvPr>
          <p:cNvSpPr/>
          <p:nvPr/>
        </p:nvSpPr>
        <p:spPr>
          <a:xfrm>
            <a:off x="1691640" y="3456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2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7592375-EB63-80BC-7CA2-C077BC975316}"/>
              </a:ext>
            </a:extLst>
          </p:cNvPr>
          <p:cNvSpPr/>
          <p:nvPr/>
        </p:nvSpPr>
        <p:spPr>
          <a:xfrm>
            <a:off x="1691640" y="3767328"/>
            <a:ext cx="1371600" cy="219456"/>
          </a:xfrm>
          <a:prstGeom prst="roundRect">
            <a:avLst>
              <a:gd name="adj" fmla="val 20833"/>
            </a:avLst>
          </a:prstGeom>
          <a:solidFill>
            <a:srgbClr val="2A9D8F">
              <a:alpha val="20000"/>
            </a:srgbClr>
          </a:solidFill>
          <a:ln w="1270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F956C07-0601-0F9A-A4FA-6F7D683F4819}"/>
              </a:ext>
            </a:extLst>
          </p:cNvPr>
          <p:cNvSpPr/>
          <p:nvPr/>
        </p:nvSpPr>
        <p:spPr>
          <a:xfrm>
            <a:off x="1691640" y="37673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9D8F"/>
                </a:solidFill>
              </a:rPr>
              <a:t>Imágenes</a:t>
            </a:r>
            <a:endParaRPr lang="en-US" sz="85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399701B-3475-F73D-0670-ACBE02DF228E}"/>
              </a:ext>
            </a:extLst>
          </p:cNvPr>
          <p:cNvSpPr/>
          <p:nvPr/>
        </p:nvSpPr>
        <p:spPr>
          <a:xfrm>
            <a:off x="3794760" y="3474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fotos por prenda, CDN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045271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Planificación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Scrum adaptado  ·  4 Sprints semanales  ·  Ciclo iterativo-incremental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50989" y="1219317"/>
            <a:ext cx="1965960" cy="36118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7030A0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705356"/>
            <a:ext cx="1965960" cy="384048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38912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552" y="1298448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&amp; Planificación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423160"/>
            <a:ext cx="164592" cy="164592"/>
          </a:xfrm>
          <a:prstGeom prst="ellipse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13232" y="2395728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requisitos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3081528"/>
            <a:ext cx="164592" cy="164592"/>
          </a:xfrm>
          <a:prstGeom prst="ellipse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13232" y="3054096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Ishikawa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" y="3739896"/>
            <a:ext cx="164592" cy="164592"/>
          </a:xfrm>
          <a:prstGeom prst="ellipse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713232" y="3712464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alcance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31720" y="3035808"/>
            <a:ext cx="182880" cy="0"/>
          </a:xfrm>
          <a:prstGeom prst="line">
            <a:avLst/>
          </a:prstGeom>
          <a:noFill/>
          <a:ln w="1905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2499829" y="1261872"/>
            <a:ext cx="1965960" cy="36118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2499829" y="1225296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2505456" y="1607937"/>
            <a:ext cx="1965960" cy="384048"/>
          </a:xfrm>
          <a:prstGeom prst="rect">
            <a:avLst/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2587752" y="126187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136392" y="1298448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2-3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06040" y="1664208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Core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24328" y="2423160"/>
            <a:ext cx="164592" cy="164592"/>
          </a:xfrm>
          <a:prstGeom prst="ellipse">
            <a:avLst/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2862072" y="2395728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cloud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24328" y="3081528"/>
            <a:ext cx="164592" cy="164592"/>
          </a:xfrm>
          <a:prstGeom prst="ellipse">
            <a:avLst/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2862072" y="3054096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catálogo + filtros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24328" y="3739896"/>
            <a:ext cx="164592" cy="164592"/>
          </a:xfrm>
          <a:prstGeom prst="ellipse">
            <a:avLst/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2862072" y="3712464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arriendo + cita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80560" y="3035808"/>
            <a:ext cx="182880" cy="0"/>
          </a:xfrm>
          <a:prstGeom prst="line">
            <a:avLst/>
          </a:prstGeom>
          <a:noFill/>
          <a:ln w="1905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4663440" y="1234440"/>
            <a:ext cx="1965960" cy="36118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4663440" y="123444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4663440" y="1600200"/>
            <a:ext cx="1965960" cy="3840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736591" y="1261872"/>
            <a:ext cx="61616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285232" y="1298448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38928" y="1533377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Complementarios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73168" y="2423160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5010912" y="2395728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Devoluciones + daños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73168" y="3081528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5010912" y="3054096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CRUDs administrativos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73168" y="3739896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5010912" y="3712464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despacho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29400" y="3035808"/>
            <a:ext cx="182880" cy="0"/>
          </a:xfrm>
          <a:prstGeom prst="line">
            <a:avLst/>
          </a:prstGeom>
          <a:noFill/>
          <a:ln w="1905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Shape 41"/>
          <p:cNvSpPr/>
          <p:nvPr/>
        </p:nvSpPr>
        <p:spPr>
          <a:xfrm>
            <a:off x="6801026" y="1229868"/>
            <a:ext cx="1965960" cy="36118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4" name="Shape 42"/>
          <p:cNvSpPr/>
          <p:nvPr/>
        </p:nvSpPr>
        <p:spPr>
          <a:xfrm>
            <a:off x="6812280" y="1234440"/>
            <a:ext cx="1965960" cy="749808"/>
          </a:xfrm>
          <a:prstGeom prst="roundRect">
            <a:avLst>
              <a:gd name="adj" fmla="val 14634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3"/>
          <p:cNvSpPr/>
          <p:nvPr/>
        </p:nvSpPr>
        <p:spPr>
          <a:xfrm>
            <a:off x="6812280" y="1600200"/>
            <a:ext cx="196596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6885431" y="1261872"/>
            <a:ext cx="67595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S4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434072" y="1298448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397496" y="1623060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&amp; Deploy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922008" y="2423160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/>
          <p:nvPr/>
        </p:nvSpPr>
        <p:spPr>
          <a:xfrm>
            <a:off x="7159752" y="2395728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integración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922008" y="3081528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Text 50"/>
          <p:cNvSpPr/>
          <p:nvPr/>
        </p:nvSpPr>
        <p:spPr>
          <a:xfrm>
            <a:off x="7159752" y="3054096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Vercel/Render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922008" y="3739896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Text 52"/>
          <p:cNvSpPr/>
          <p:nvPr/>
        </p:nvSpPr>
        <p:spPr>
          <a:xfrm>
            <a:off x="7159752" y="3712464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38328" y="4831197"/>
            <a:ext cx="8412480" cy="320040"/>
          </a:xfrm>
          <a:prstGeom prst="roundRect">
            <a:avLst>
              <a:gd name="adj" fmla="val 17143"/>
            </a:avLst>
          </a:prstGeom>
          <a:solidFill>
            <a:srgbClr val="4A1942">
              <a:alpha val="12000"/>
            </a:srgbClr>
          </a:solidFill>
          <a:ln w="12700">
            <a:solidFill>
              <a:srgbClr val="4A194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Text 54"/>
          <p:cNvSpPr/>
          <p:nvPr/>
        </p:nvSpPr>
        <p:spPr>
          <a:xfrm>
            <a:off x="557784" y="4828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Gabriel: análisis y coordinación  ·  Deyanira: UX/UI y catálogo  ·  Priscila: tecnologías, arquitectura y despacho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1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Metodología &amp; Arquitectura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MVC — Backend Node.js/Express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234440" cy="1645920"/>
          </a:xfrm>
          <a:prstGeom prst="roundRect">
            <a:avLst>
              <a:gd name="adj" fmla="val 7407"/>
            </a:avLst>
          </a:prstGeom>
          <a:solidFill>
            <a:srgbClr val="2A9D8F">
              <a:alpha val="15000"/>
            </a:srgbClr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365760" y="1581912"/>
            <a:ext cx="1234440" cy="2011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874520"/>
            <a:ext cx="11064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del negocio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2194560"/>
            <a:ext cx="137160" cy="0"/>
          </a:xfrm>
          <a:prstGeom prst="line">
            <a:avLst/>
          </a:prstGeom>
          <a:noFill/>
          <a:ln w="1905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1737360" y="1371600"/>
            <a:ext cx="1234440" cy="1645920"/>
          </a:xfrm>
          <a:prstGeom prst="roundRect">
            <a:avLst>
              <a:gd name="adj" fmla="val 7407"/>
            </a:avLst>
          </a:prstGeom>
          <a:solidFill>
            <a:srgbClr val="C4556A">
              <a:alpha val="15000"/>
            </a:srgbClr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1737360" y="1371600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1737360" y="1581912"/>
            <a:ext cx="1234440" cy="201168"/>
          </a:xfrm>
          <a:prstGeom prst="rect">
            <a:avLst/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737360" y="137160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Vista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01368" y="1874520"/>
            <a:ext cx="11064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UI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71800" y="2194560"/>
            <a:ext cx="137160" cy="0"/>
          </a:xfrm>
          <a:prstGeom prst="line">
            <a:avLst/>
          </a:prstGeom>
          <a:noFill/>
          <a:ln w="1905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3108960" y="1371600"/>
            <a:ext cx="1234440" cy="1645920"/>
          </a:xfrm>
          <a:prstGeom prst="roundRect">
            <a:avLst>
              <a:gd name="adj" fmla="val 7407"/>
            </a:avLst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3108960" y="1371600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3108960" y="1581912"/>
            <a:ext cx="1234440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108960" y="137160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Controlador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72968" y="1874520"/>
            <a:ext cx="11064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Adaptado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657600"/>
            <a:ext cx="182880" cy="182880"/>
          </a:xfrm>
          <a:prstGeom prst="ellipse">
            <a:avLst/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85800" y="3630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1 semana alineados a entregas académicas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069080"/>
            <a:ext cx="182880" cy="182880"/>
          </a:xfrm>
          <a:prstGeom prst="ellipse">
            <a:avLst/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85800" y="4041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 en GitHub Projects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4480560"/>
            <a:ext cx="182880" cy="182880"/>
          </a:xfrm>
          <a:prstGeom prst="ellipse">
            <a:avLst/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85800" y="4453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obligatorios con revisión por par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82296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FAF3F0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493776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Calidad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141732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4937760" y="144475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144475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centralizados y consistentes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1984248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4937760" y="20116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20116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Supabase con SLA garantizado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2551176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4937760" y="257860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257860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automáticos sin error humano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3118104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4937760" y="314553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63640" y="3145536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24/7 sin horario de atención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3685032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4937760" y="3712464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63640" y="371246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 + Row Level Security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1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Viabilidad de la Solución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84048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960120"/>
          </a:xfrm>
          <a:prstGeom prst="roundRect">
            <a:avLst>
              <a:gd name="adj" fmla="val 14286"/>
            </a:avLst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2651760" cy="393192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Técnica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82880" cy="182880"/>
          </a:xfrm>
          <a:prstGeom prst="ellipse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77240" y="2121408"/>
            <a:ext cx="2121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moderno: React + Node + Supabase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98648"/>
            <a:ext cx="182880" cy="182880"/>
          </a:xfrm>
          <a:prstGeom prst="ellipse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77240" y="2871216"/>
            <a:ext cx="2121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cloud escalable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648456"/>
            <a:ext cx="182880" cy="182880"/>
          </a:xfrm>
          <a:prstGeom prst="ellipse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77240" y="3621024"/>
            <a:ext cx="2121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+ patrones frontend establecidos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651760" cy="384048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2651760" cy="960120"/>
          </a:xfrm>
          <a:prstGeom prst="roundRect">
            <a:avLst>
              <a:gd name="adj" fmla="val 14286"/>
            </a:avLst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3246120" y="1572768"/>
            <a:ext cx="2651760" cy="393192"/>
          </a:xfrm>
          <a:prstGeom prst="rect">
            <a:avLst/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246120" y="102412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46120" y="1600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Económica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83280" y="2148840"/>
            <a:ext cx="182880" cy="182880"/>
          </a:xfrm>
          <a:prstGeom prst="ellipse">
            <a:avLst/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3657600" y="2121408"/>
            <a:ext cx="2121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gratuitos para MVP completo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83280" y="2898648"/>
            <a:ext cx="182880" cy="182880"/>
          </a:xfrm>
          <a:prstGeom prst="ellipse">
            <a:avLst/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3657600" y="2871216"/>
            <a:ext cx="2121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Vercel, Supabase, GitHub — $0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83280" y="3648456"/>
            <a:ext cx="182880" cy="182880"/>
          </a:xfrm>
          <a:prstGeom prst="ellipse">
            <a:avLst/>
          </a:prstGeom>
          <a:solidFill>
            <a:srgbClr val="C4556A"/>
          </a:solidFill>
          <a:ln w="12700">
            <a:solidFill>
              <a:srgbClr val="C4556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3657600" y="3621024"/>
            <a:ext cx="2121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servidores propios que mantener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1005840"/>
            <a:ext cx="2651760" cy="384048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8E0E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6126480" y="1005840"/>
            <a:ext cx="2651760" cy="96012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6126480" y="1572768"/>
            <a:ext cx="2651760" cy="3931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126480" y="102412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126480" y="1600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Operativa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63640" y="2148840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6537960" y="2121408"/>
            <a:ext cx="2121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intuitiva para PYME no técnica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2898648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6537960" y="2871216"/>
            <a:ext cx="2121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CRUD sin intervención técnica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3648456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537960" y="3621024"/>
            <a:ext cx="21214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desde cualquier dispositivo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320040"/>
          </a:xfrm>
          <a:prstGeom prst="roundRect">
            <a:avLst>
              <a:gd name="adj" fmla="val 17143"/>
            </a:avLst>
          </a:prstGeom>
          <a:solidFill>
            <a:srgbClr val="4A1942">
              <a:alpha val="12000"/>
            </a:srgbClr>
          </a:solidFill>
          <a:ln w="12700">
            <a:solidFill>
              <a:srgbClr val="4A194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Implementable en 5 semanas  ·  Con herramientas usadas en el mercado laboral real  ·  Base sólida para escalar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1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C4556A">
              <a:alpha val="15000"/>
            </a:srgbClr>
          </a:solidFill>
          <a:ln w="12700">
            <a:solidFill>
              <a:srgbClr val="C4556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F4A261">
              <a:alpha val="10000"/>
            </a:srgbClr>
          </a:solidFill>
          <a:ln w="12700">
            <a:solidFill>
              <a:srgbClr val="F4A26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4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Semanas 2 y 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1664208"/>
            <a:ext cx="6400800" cy="594360"/>
          </a:xfrm>
          <a:prstGeom prst="roundRect">
            <a:avLst>
              <a:gd name="adj" fmla="val 15385"/>
            </a:avLst>
          </a:prstGeom>
          <a:solidFill>
            <a:srgbClr val="C4556A">
              <a:alpha val="12000"/>
            </a:srgbClr>
          </a:solidFill>
          <a:ln w="12700">
            <a:solidFill>
              <a:srgbClr val="C4556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508760" y="166420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57400" y="1682496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arquitectura cloud + modelo de datos Supabase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414016"/>
            <a:ext cx="6400800" cy="594360"/>
          </a:xfrm>
          <a:prstGeom prst="roundRect">
            <a:avLst>
              <a:gd name="adj" fmla="val 15385"/>
            </a:avLst>
          </a:prstGeom>
          <a:solidFill>
            <a:srgbClr val="C4556A">
              <a:alpha val="12000"/>
            </a:srgbClr>
          </a:solidFill>
          <a:ln w="12700">
            <a:solidFill>
              <a:srgbClr val="C4556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508760" y="24140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57400" y="243230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UX/UI — catálogo, arriendo y venta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3163824"/>
            <a:ext cx="6400800" cy="594360"/>
          </a:xfrm>
          <a:prstGeom prst="roundRect">
            <a:avLst>
              <a:gd name="adj" fmla="val 15385"/>
            </a:avLst>
          </a:prstGeom>
          <a:solidFill>
            <a:srgbClr val="C4556A">
              <a:alpha val="12000"/>
            </a:srgbClr>
          </a:solidFill>
          <a:ln w="12700">
            <a:solidFill>
              <a:srgbClr val="C4556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508760" y="316382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57400" y="318211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módulo catálogo con filtros por categoría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3913632"/>
            <a:ext cx="6400800" cy="594360"/>
          </a:xfrm>
          <a:prstGeom prst="roundRect">
            <a:avLst>
              <a:gd name="adj" fmla="val 15385"/>
            </a:avLst>
          </a:prstGeom>
          <a:solidFill>
            <a:srgbClr val="C4556A">
              <a:alpha val="12000"/>
            </a:srgbClr>
          </a:solidFill>
          <a:ln w="12700">
            <a:solidFill>
              <a:srgbClr val="C4556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1508760" y="391363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57400" y="393192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arriendo: reserva online + solicitud de cita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C4556A">
              <a:alpha val="70000"/>
            </a:srgbClr>
          </a:solidFill>
          <a:ln w="12700">
            <a:solidFill>
              <a:srgbClr val="C4556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TPY1101  ·  Taller Aplicado de Programación  ·  DUOC UC  ·  Hermosilla · Leyton · Calderón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767</Words>
  <Application>Microsoft Office PowerPoint</Application>
  <PresentationFormat>Presentación en pantalla (16:9)</PresentationFormat>
  <Paragraphs>212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Deyanira Leyton</cp:lastModifiedBy>
  <cp:revision>2</cp:revision>
  <dcterms:created xsi:type="dcterms:W3CDTF">2026-04-25T16:01:06Z</dcterms:created>
  <dcterms:modified xsi:type="dcterms:W3CDTF">2026-04-25T17:42:44Z</dcterms:modified>
</cp:coreProperties>
</file>